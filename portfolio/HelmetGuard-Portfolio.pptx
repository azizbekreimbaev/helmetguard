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2"/>
  </p:sldMasterIdLst>
  <p:sldIdLst>
    <p:sldId id="256" r:id="rId1"/>
  </p:sldIdLst>
  <p:sldSz cx="15240000" cy="85725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lmetGuard"/>
          <p:cNvSpPr txBox="1"/>
          <p:nvPr/>
        </p:nvSpPr>
        <p:spPr>
          <a:xfrm>
            <a:off x="381000" y="190500"/>
            <a:ext cx="14478000" cy="742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lang="en-US" sz="4800" b="1">
                <a:solidFill>
                  <a:srgbClr val="202B3C"/>
                </a:solidFill>
                <a:latin typeface="Arial"/>
              </a:rPr>
              <a:t>HelmetGuard</a:t>
            </a:r>
            <a:endParaRPr lang="en-US" sz="4800" b="1"/>
          </a:p>
        </p:txBody>
      </p:sp>
      <p:sp>
        <p:nvSpPr>
          <p:cNvPr id="3" name="AI-powered helmet monitoring for workplace sa"/>
          <p:cNvSpPr txBox="1"/>
          <p:nvPr/>
        </p:nvSpPr>
        <p:spPr>
          <a:xfrm>
            <a:off x="8991600" y="1219200"/>
            <a:ext cx="581025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lang="en-US" sz="2250" b="1">
                <a:solidFill>
                  <a:srgbClr val="202B3C"/>
                </a:solidFill>
                <a:latin typeface="Arial"/>
              </a:rPr>
              <a:t>AI-powered helmet monitoring</a:t>
            </a:r>
            <a:endParaRPr lang="en-US" sz="2250" b="1"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lang="en-US" sz="2250" b="1">
                <a:solidFill>
                  <a:srgbClr val="202B3C"/>
                </a:solidFill>
                <a:latin typeface="Arial"/>
              </a:rPr>
              <a:t>for workplace safety</a:t>
            </a:r>
            <a:endParaRPr lang="en-US" sz="2250" b="1"/>
          </a:p>
        </p:txBody>
      </p:sp>
      <p:sp>
        <p:nvSpPr>
          <p:cNvPr id="4" name="Developed a computer vision prototype that de"/>
          <p:cNvSpPr txBox="1"/>
          <p:nvPr/>
        </p:nvSpPr>
        <p:spPr>
          <a:xfrm>
            <a:off x="8991600" y="2095500"/>
            <a:ext cx="5810250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lang="en-US" sz="1950" b="0">
                <a:solidFill>
                  <a:srgbClr val="202B3C"/>
                </a:solidFill>
                <a:latin typeface="Arial"/>
              </a:rPr>
              <a:t>Developed a computer vision prototype that detects helmets and bare heads in images, uploaded videos, and live camera feeds. The dashboard highlights detections and flags missing helmets for review.</a:t>
            </a:r>
            <a:endParaRPr lang="en-US" sz="1950" b="0"/>
          </a:p>
        </p:txBody>
      </p:sp>
      <p:sp>
        <p:nvSpPr>
          <p:cNvPr id="5" name="Model Architecture"/>
          <p:cNvSpPr txBox="1"/>
          <p:nvPr/>
        </p:nvSpPr>
        <p:spPr>
          <a:xfrm>
            <a:off x="8991600" y="4000500"/>
            <a:ext cx="58102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lang="en-US" sz="2175" b="1">
                <a:solidFill>
                  <a:srgbClr val="202B3C"/>
                </a:solidFill>
                <a:latin typeface="Arial"/>
              </a:rPr>
              <a:t>Model Architecture</a:t>
            </a:r>
            <a:endParaRPr lang="en-US" sz="2175" b="1"/>
          </a:p>
        </p:txBody>
      </p:sp>
      <p:sp>
        <p:nvSpPr>
          <p:cNvPr id="6" name="•  Ultralytics YOLO object detection"/>
          <p:cNvSpPr txBox="1"/>
          <p:nvPr/>
        </p:nvSpPr>
        <p:spPr>
          <a:xfrm>
            <a:off x="9067800" y="4514850"/>
            <a:ext cx="57150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lang="en-US" sz="1875" b="0">
                <a:solidFill>
                  <a:srgbClr val="202B3C"/>
                </a:solidFill>
                <a:latin typeface="Arial"/>
              </a:rPr>
              <a:t>•  Ultralytics YOLO object detection</a:t>
            </a:r>
            <a:endParaRPr lang="en-US" sz="1875" b="0"/>
          </a:p>
        </p:txBody>
      </p:sp>
      <p:sp>
        <p:nvSpPr>
          <p:cNvPr id="7" name="•  Explicit Hardhat and NO-Hardhat classes"/>
          <p:cNvSpPr txBox="1"/>
          <p:nvPr/>
        </p:nvSpPr>
        <p:spPr>
          <a:xfrm>
            <a:off x="9067800" y="4857750"/>
            <a:ext cx="57150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lang="en-US" sz="1875" b="0">
                <a:solidFill>
                  <a:srgbClr val="202B3C"/>
                </a:solidFill>
                <a:latin typeface="Arial"/>
              </a:rPr>
              <a:t>•  Explicit Hardhat and NO-Hardhat classes</a:t>
            </a:r>
            <a:endParaRPr lang="en-US" sz="1875" b="0"/>
          </a:p>
        </p:txBody>
      </p:sp>
      <p:sp>
        <p:nvSpPr>
          <p:cNvPr id="8" name="•  Frame processing with OpenCV"/>
          <p:cNvSpPr txBox="1"/>
          <p:nvPr/>
        </p:nvSpPr>
        <p:spPr>
          <a:xfrm>
            <a:off x="9067800" y="5200650"/>
            <a:ext cx="57150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lang="en-US" sz="1875" b="0">
                <a:solidFill>
                  <a:srgbClr val="202B3C"/>
                </a:solidFill>
                <a:latin typeface="Arial"/>
              </a:rPr>
              <a:t>•  Frame processing with OpenCV</a:t>
            </a:r>
            <a:endParaRPr lang="en-US" sz="1875" b="0"/>
          </a:p>
        </p:txBody>
      </p:sp>
      <p:sp>
        <p:nvSpPr>
          <p:cNvPr id="9" name="•  Adjustable confidence threshold"/>
          <p:cNvSpPr txBox="1"/>
          <p:nvPr/>
        </p:nvSpPr>
        <p:spPr>
          <a:xfrm>
            <a:off x="9067800" y="5543550"/>
            <a:ext cx="57150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lang="en-US" sz="1875" b="0">
                <a:solidFill>
                  <a:srgbClr val="202B3C"/>
                </a:solidFill>
                <a:latin typeface="Arial"/>
              </a:rPr>
              <a:t>•  Adjustable confidence threshold</a:t>
            </a:r>
            <a:endParaRPr lang="en-US" sz="1875" b="0"/>
          </a:p>
        </p:txBody>
      </p:sp>
      <p:sp>
        <p:nvSpPr>
          <p:cNvPr id="10" name="•  Bounding boxes and review alerts"/>
          <p:cNvSpPr txBox="1"/>
          <p:nvPr/>
        </p:nvSpPr>
        <p:spPr>
          <a:xfrm>
            <a:off x="9067800" y="5886450"/>
            <a:ext cx="57150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lang="en-US" sz="1875" b="0">
                <a:solidFill>
                  <a:srgbClr val="202B3C"/>
                </a:solidFill>
                <a:latin typeface="Arial"/>
              </a:rPr>
              <a:t>•  Bounding boxes and review alerts</a:t>
            </a:r>
            <a:endParaRPr lang="en-US" sz="1875" b="0"/>
          </a:p>
        </p:txBody>
      </p:sp>
      <p:sp>
        <p:nvSpPr>
          <p:cNvPr id="11" name="•  Per-frame counts and processing FPS"/>
          <p:cNvSpPr txBox="1"/>
          <p:nvPr/>
        </p:nvSpPr>
        <p:spPr>
          <a:xfrm>
            <a:off x="9067800" y="6229350"/>
            <a:ext cx="57150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lang="en-US" sz="1875" b="0">
                <a:solidFill>
                  <a:srgbClr val="202B3C"/>
                </a:solidFill>
                <a:latin typeface="Arial"/>
              </a:rPr>
              <a:t>•  Per-frame counts and processing FPS</a:t>
            </a:r>
            <a:endParaRPr lang="en-US" sz="1875" b="0"/>
          </a:p>
        </p:txBody>
      </p:sp>
      <p:sp>
        <p:nvSpPr>
          <p:cNvPr id="12" name="•  Streamlit dashboard with light/dark themes"/>
          <p:cNvSpPr txBox="1"/>
          <p:nvPr/>
        </p:nvSpPr>
        <p:spPr>
          <a:xfrm>
            <a:off x="9067800" y="6572250"/>
            <a:ext cx="57150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lang="en-US" sz="1875" b="0">
                <a:solidFill>
                  <a:srgbClr val="202B3C"/>
                </a:solidFill>
                <a:latin typeface="Arial"/>
              </a:rPr>
              <a:t>•  Streamlit dashboard with light/dark themes</a:t>
            </a:r>
            <a:endParaRPr lang="en-US" sz="1875" b="0"/>
          </a:p>
        </p:txBody>
      </p:sp>
      <p:sp>
        <p:nvSpPr>
          <p:cNvPr id="13" name="Technologies Used"/>
          <p:cNvSpPr txBox="1"/>
          <p:nvPr/>
        </p:nvSpPr>
        <p:spPr>
          <a:xfrm>
            <a:off x="8991600" y="7153275"/>
            <a:ext cx="581025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lang="en-US" sz="2175" b="1">
                <a:solidFill>
                  <a:srgbClr val="202B3C"/>
                </a:solidFill>
                <a:latin typeface="Arial"/>
              </a:rPr>
              <a:t>Technologies Used</a:t>
            </a:r>
            <a:endParaRPr lang="en-US" sz="2175" b="1"/>
          </a:p>
        </p:txBody>
      </p:sp>
      <p:sp>
        <p:nvSpPr>
          <p:cNvPr id="14" name="Python, Ultralytics YOLO, OpenCV, Streamlit"/>
          <p:cNvSpPr txBox="1"/>
          <p:nvPr/>
        </p:nvSpPr>
        <p:spPr>
          <a:xfrm>
            <a:off x="8991600" y="7591425"/>
            <a:ext cx="58102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lang="en-US" sz="1800" b="0">
                <a:solidFill>
                  <a:srgbClr val="202B3C"/>
                </a:solidFill>
                <a:latin typeface="Arial"/>
              </a:rPr>
              <a:t>Python, Ultralytics YOLO, OpenCV, Streamlit</a:t>
            </a:r>
            <a:endParaRPr lang="en-US" sz="1800" b="0"/>
          </a:p>
        </p:txBody>
      </p:sp>
      <p:sp>
        <p:nvSpPr>
          <p:cNvPr id="15" name="Prototype • Camera performance requires field"/>
          <p:cNvSpPr txBox="1"/>
          <p:nvPr/>
        </p:nvSpPr>
        <p:spPr>
          <a:xfrm>
            <a:off x="8991600" y="8067675"/>
            <a:ext cx="5810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lang="en-US" sz="1275" b="0">
                <a:solidFill>
                  <a:srgbClr val="677487"/>
                </a:solidFill>
                <a:latin typeface="Arial"/>
              </a:rPr>
              <a:t>Prototype • Camera performance requires field validation</a:t>
            </a:r>
            <a:endParaRPr lang="en-US" sz="1275" b="0"/>
          </a:p>
        </p:txBody>
      </p:sp>
      <p:pic>
        <p:nvPicPr>
          <p:cNvPr id="101" name="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38250"/>
            <a:ext cx="8096250" cy="1366266"/>
          </a:xfrm>
          <a:prstGeom prst="rect">
            <a:avLst/>
          </a:prstGeom>
        </p:spPr>
      </p:pic>
      <p:pic>
        <p:nvPicPr>
          <p:cNvPr id="102" name="Helmet detection samp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800350"/>
            <a:ext cx="8096250" cy="53975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elmetGuard">
  <a:themeElements>
    <a:clrScheme name="HelmetGuard">
      <a:dk1>
        <a:srgbClr val="202B3C"/>
      </a:dk1>
      <a:lt1>
        <a:srgbClr val="FFFFFF"/>
      </a:lt1>
      <a:dk2>
        <a:srgbClr val="344054"/>
      </a:dk2>
      <a:lt2>
        <a:srgbClr val="F4F7FA"/>
      </a:lt2>
      <a:accent1>
        <a:srgbClr val="087F70"/>
      </a:accent1>
      <a:accent2>
        <a:srgbClr val="67E0BD"/>
      </a:accent2>
      <a:accent3>
        <a:srgbClr val="A53622"/>
      </a:accent3>
      <a:accent4>
        <a:srgbClr val="677487"/>
      </a:accent4>
      <a:accent5>
        <a:srgbClr val="D5DEEA"/>
      </a:accent5>
      <a:accent6>
        <a:srgbClr val="18372F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tandard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